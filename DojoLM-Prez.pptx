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1828800" cy="18288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383280"/>
            <a:ext cx="1920240" cy="19202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01168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UNICORN</a:t>
            </a:r>
            <a:endParaRPr lang="en-US" sz="900" dirty="0"/>
          </a:p>
        </p:txBody>
      </p:sp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457200"/>
            <a:ext cx="2926080" cy="292608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365760" y="6858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200" b="1" spc="-100" kern="0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DojoLM</a:t>
            </a:r>
            <a:endParaRPr lang="en-US" sz="8200" dirty="0"/>
          </a:p>
        </p:txBody>
      </p:sp>
      <p:sp>
        <p:nvSpPr>
          <p:cNvPr id="9" name="Text 2"/>
          <p:cNvSpPr/>
          <p:nvPr/>
        </p:nvSpPr>
        <p:spPr>
          <a:xfrm>
            <a:off x="365760" y="205740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Red Teaming &amp;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Platform</a:t>
            </a:r>
            <a:endParaRPr lang="en-US" sz="2200" dirty="0"/>
          </a:p>
        </p:txBody>
      </p:sp>
      <p:sp>
        <p:nvSpPr>
          <p:cNvPr id="10" name="Text 3"/>
          <p:cNvSpPr/>
          <p:nvPr/>
        </p:nvSpPr>
        <p:spPr>
          <a:xfrm>
            <a:off x="365760" y="30632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your AI to fight back.</a:t>
            </a:r>
            <a:endParaRPr lang="en-US" sz="1400" dirty="0"/>
          </a:p>
        </p:txBody>
      </p:sp>
      <p:sp>
        <p:nvSpPr>
          <p:cNvPr id="11" name="Shape 4"/>
          <p:cNvSpPr/>
          <p:nvPr/>
        </p:nvSpPr>
        <p:spPr>
          <a:xfrm>
            <a:off x="365760" y="3456432"/>
            <a:ext cx="2926080" cy="36576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365760" y="3639312"/>
            <a:ext cx="2514600" cy="347472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365760" y="3639312"/>
            <a:ext cx="45720" cy="347472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475488" y="3639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</a:t>
            </a:r>
            <a:endParaRPr lang="en-US" sz="1050" dirty="0"/>
          </a:p>
        </p:txBody>
      </p:sp>
      <p:sp>
        <p:nvSpPr>
          <p:cNvPr id="15" name="Shape 8"/>
          <p:cNvSpPr/>
          <p:nvPr/>
        </p:nvSpPr>
        <p:spPr>
          <a:xfrm>
            <a:off x="3017520" y="3639312"/>
            <a:ext cx="2514600" cy="347472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3017520" y="3639312"/>
            <a:ext cx="45720" cy="347472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3127248" y="3639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 Taxonomy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5669280" y="3639312"/>
            <a:ext cx="2514600" cy="347472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5669280" y="3639312"/>
            <a:ext cx="45720" cy="347472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779008" y="3639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320040" y="4773168"/>
            <a:ext cx="8503920" cy="13716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320040" y="48006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blackunicorn.tech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8503920" y="48006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-45720"/>
            <a:ext cx="1920240" cy="19202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3337560"/>
            <a:ext cx="1920240" cy="19202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228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457200" y="438912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DojoLM?</a:t>
            </a:r>
            <a:endParaRPr lang="en-US" sz="3800" dirty="0"/>
          </a:p>
        </p:txBody>
      </p:sp>
      <p:sp>
        <p:nvSpPr>
          <p:cNvPr id="7" name="Shape 2"/>
          <p:cNvSpPr/>
          <p:nvPr/>
        </p:nvSpPr>
        <p:spPr>
          <a:xfrm>
            <a:off x="457200" y="1115568"/>
            <a:ext cx="2560320" cy="36576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457200" y="1207008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DojoLM</a:t>
            </a:r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comprehensive </a:t>
            </a:r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red teaming and security testing platform</a:t>
            </a:r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combines 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"Dojo"</a:t>
            </a:r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place for immersive martial arts training) with </a:t>
            </a:r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"LM"</a:t>
            </a:r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(Language Models) — a focused environment for </a:t>
            </a:r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training, and hardening</a:t>
            </a:r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systems against adversarial attacks.</a:t>
            </a:r>
            <a:endParaRPr lang="en-US" sz="1250" dirty="0"/>
          </a:p>
        </p:txBody>
      </p:sp>
      <p:sp>
        <p:nvSpPr>
          <p:cNvPr id="9" name="Shape 4"/>
          <p:cNvSpPr/>
          <p:nvPr/>
        </p:nvSpPr>
        <p:spPr>
          <a:xfrm>
            <a:off x="5074920" y="1207008"/>
            <a:ext cx="1920240" cy="123444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5074920" y="1207008"/>
            <a:ext cx="45720" cy="123444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202936" y="1316736"/>
            <a:ext cx="411480" cy="411480"/>
          </a:xfrm>
          <a:prstGeom prst="rect">
            <a:avLst/>
          </a:prstGeom>
          <a:solidFill>
            <a:srgbClr val="08151E"/>
          </a:solidFill>
          <a:ln w="12700">
            <a:solidFill>
              <a:srgbClr val="08151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202936" y="1316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TPI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202936" y="1773936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 Taxonomy Coverage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202936" y="207568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21/21 CrowdStrike TPI stories fully implemented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7086600" y="1207008"/>
            <a:ext cx="1920240" cy="123444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086600" y="1207008"/>
            <a:ext cx="45720" cy="123444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214616" y="1316736"/>
            <a:ext cx="411480" cy="411480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214616" y="1316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214616" y="1773936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Test Lab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214616" y="207568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scanner for real-time injection detection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074920" y="2596896"/>
            <a:ext cx="1920240" cy="123444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074920" y="2596896"/>
            <a:ext cx="45720" cy="123444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202936" y="2706624"/>
            <a:ext cx="411480" cy="411480"/>
          </a:xfrm>
          <a:prstGeom prst="rect">
            <a:avLst/>
          </a:prstGeom>
          <a:solidFill>
            <a:srgbClr val="08151E"/>
          </a:solidFill>
          <a:ln w="12700">
            <a:solidFill>
              <a:srgbClr val="08151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202936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202936" y="3163824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Attack Fixtures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202936" y="3465576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test cases across all injection vectors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7086600" y="2596896"/>
            <a:ext cx="1920240" cy="123444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086600" y="2596896"/>
            <a:ext cx="45720" cy="123444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214616" y="2706624"/>
            <a:ext cx="411480" cy="411480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214616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7214616" y="3163824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Detection Patterns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7214616" y="3465576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&amp; heuristic-based detection engine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320040" y="4773168"/>
            <a:ext cx="8503920" cy="13716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20040" y="48006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blackunicorn.tech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503920" y="48006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-45720"/>
            <a:ext cx="1828800" cy="18288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383280"/>
            <a:ext cx="1920240" cy="19202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011680" y="228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LANDSCAPE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457200" y="438912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Injection Is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#1 LLM Threat</a:t>
            </a:r>
            <a:endParaRPr lang="en-US" sz="3600" dirty="0"/>
          </a:p>
        </p:txBody>
      </p:sp>
      <p:sp>
        <p:nvSpPr>
          <p:cNvPr id="7" name="Shape 2"/>
          <p:cNvSpPr/>
          <p:nvPr/>
        </p:nvSpPr>
        <p:spPr>
          <a:xfrm>
            <a:off x="457200" y="1481328"/>
            <a:ext cx="2560320" cy="36576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457200" y="1664208"/>
            <a:ext cx="2697480" cy="150876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457200" y="1664208"/>
            <a:ext cx="45720" cy="150876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94360" y="17373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5800" dirty="0"/>
          </a:p>
        </p:txBody>
      </p:sp>
      <p:sp>
        <p:nvSpPr>
          <p:cNvPr id="11" name="Text 6"/>
          <p:cNvSpPr/>
          <p:nvPr/>
        </p:nvSpPr>
        <p:spPr>
          <a:xfrm>
            <a:off x="594360" y="2514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Category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337560" y="1664208"/>
            <a:ext cx="2697480" cy="150876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337560" y="1664208"/>
            <a:ext cx="45720" cy="150876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474720" y="17373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5800" dirty="0"/>
          </a:p>
        </p:txBody>
      </p:sp>
      <p:sp>
        <p:nvSpPr>
          <p:cNvPr id="15" name="Text 10"/>
          <p:cNvSpPr/>
          <p:nvPr/>
        </p:nvSpPr>
        <p:spPr>
          <a:xfrm>
            <a:off x="3474720" y="2514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attack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in TPI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17920" y="1664208"/>
            <a:ext cx="2697480" cy="150876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17920" y="1664208"/>
            <a:ext cx="45720" cy="150876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355080" y="17373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5800" dirty="0"/>
          </a:p>
        </p:txBody>
      </p:sp>
      <p:sp>
        <p:nvSpPr>
          <p:cNvPr id="19" name="Text 14"/>
          <p:cNvSpPr/>
          <p:nvPr/>
        </p:nvSpPr>
        <p:spPr>
          <a:xfrm>
            <a:off x="6355080" y="2514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injection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per week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systematic red teaming, LLM systems remain vulnerable to: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3749040"/>
            <a:ext cx="118872" cy="201168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58368" y="373989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hijacking via crafted user inputs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4142232"/>
            <a:ext cx="118872" cy="201168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58368" y="41330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injection through images, audio, and code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663440" y="3749040"/>
            <a:ext cx="118872" cy="201168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64608" y="373989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prompt propagation attacks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663440" y="4142232"/>
            <a:ext cx="118872" cy="201168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864608" y="41330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obfuscation &amp; multilingual evasion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20040" y="4773168"/>
            <a:ext cx="8503920" cy="13716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006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blackunicorn.tech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503920" y="48006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-45720"/>
            <a:ext cx="1920240" cy="19202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3337560"/>
            <a:ext cx="1920240" cy="19202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228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 TAXONOMY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457200" y="43891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CrowdStrike Taxonomy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Prompt Injection</a:t>
            </a:r>
            <a:endParaRPr lang="en-US" sz="3600" dirty="0"/>
          </a:p>
        </p:txBody>
      </p:sp>
      <p:sp>
        <p:nvSpPr>
          <p:cNvPr id="7" name="Shape 2"/>
          <p:cNvSpPr/>
          <p:nvPr/>
        </p:nvSpPr>
        <p:spPr>
          <a:xfrm>
            <a:off x="457200" y="1444752"/>
            <a:ext cx="2560320" cy="36576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65760" y="1572768"/>
            <a:ext cx="2788920" cy="3218688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365760" y="1572768"/>
            <a:ext cx="2788920" cy="512064"/>
          </a:xfrm>
          <a:prstGeom prst="rect">
            <a:avLst/>
          </a:prstGeom>
          <a:solidFill>
            <a:srgbClr val="1A080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65760" y="1572768"/>
            <a:ext cx="45720" cy="3218688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75488" y="1591056"/>
            <a:ext cx="365760" cy="365760"/>
          </a:xfrm>
          <a:prstGeom prst="rect">
            <a:avLst/>
          </a:prstGeom>
          <a:solidFill>
            <a:srgbClr val="2A0808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75488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914400" y="1609344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Injection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75488" y="2212848"/>
            <a:ext cx="73152" cy="201168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21792" y="219456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Injection (TPI-04)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" y="2871216"/>
            <a:ext cx="73152" cy="201168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21792" y="285292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Code-Format Injection (TPI-09)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" y="3529584"/>
            <a:ext cx="73152" cy="201168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21792" y="351129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Tokens (TPI-14)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" y="4187952"/>
            <a:ext cx="73152" cy="201168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21792" y="416966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Fragmentation (TPI-13)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291840" y="1572768"/>
            <a:ext cx="2788920" cy="3218688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291840" y="1572768"/>
            <a:ext cx="2788920" cy="512064"/>
          </a:xfrm>
          <a:prstGeom prst="rect">
            <a:avLst/>
          </a:prstGeom>
          <a:solidFill>
            <a:srgbClr val="08151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291840" y="1572768"/>
            <a:ext cx="45720" cy="3218688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401568" y="1591056"/>
            <a:ext cx="365760" cy="365760"/>
          </a:xfrm>
          <a:prstGeom prst="rect">
            <a:avLst/>
          </a:prstGeom>
          <a:solidFill>
            <a:srgbClr val="082028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401568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840480" y="1609344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401568" y="2212848"/>
            <a:ext cx="73152" cy="201168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547872" y="219456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WebFetch Output (TPI-02)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401568" y="2871216"/>
            <a:ext cx="73152" cy="201168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547872" y="285292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WebSearch Output (TPI-05)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3401568" y="3529584"/>
            <a:ext cx="73152" cy="201168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547872" y="351129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(TPI-03)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401568" y="4187952"/>
            <a:ext cx="73152" cy="201168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547872" y="416966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Metadata (TPI-18)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217920" y="1572768"/>
            <a:ext cx="2788920" cy="3218688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217920" y="1572768"/>
            <a:ext cx="2788920" cy="512064"/>
          </a:xfrm>
          <a:prstGeom prst="rect">
            <a:avLst/>
          </a:prstGeom>
          <a:solidFill>
            <a:srgbClr val="081A10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217920" y="1572768"/>
            <a:ext cx="45720" cy="3218688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327648" y="1591056"/>
            <a:ext cx="365760" cy="365760"/>
          </a:xfrm>
          <a:prstGeom prst="rect">
            <a:avLst/>
          </a:prstGeom>
          <a:solidFill>
            <a:srgbClr val="0A2010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327648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D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766560" y="1609344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 &amp; Social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6327648" y="2212848"/>
            <a:ext cx="73152" cy="201168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473952" y="219456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(TPI-15)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6327648" y="2871216"/>
            <a:ext cx="73152" cy="201168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473952" y="285292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Encoding (TPI-10)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327648" y="3529584"/>
            <a:ext cx="73152" cy="201168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473952" y="351129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(TPI-06)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6327648" y="4187952"/>
            <a:ext cx="73152" cy="201168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473952" y="416966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Evasion (TPI-17)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DojoLM covers 21/21 TPI stories — complete taxonomy implementation.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320040" y="4773168"/>
            <a:ext cx="8503920" cy="13716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320040" y="48006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blackunicorn.tech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8503920" y="48006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-45720"/>
            <a:ext cx="1828800" cy="18288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383280"/>
            <a:ext cx="1920240" cy="19202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011680" y="228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457200" y="438912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DojoLM Works</a:t>
            </a:r>
            <a:endParaRPr lang="en-US" sz="3800" dirty="0"/>
          </a:p>
        </p:txBody>
      </p:sp>
      <p:sp>
        <p:nvSpPr>
          <p:cNvPr id="7" name="Shape 2"/>
          <p:cNvSpPr/>
          <p:nvPr/>
        </p:nvSpPr>
        <p:spPr>
          <a:xfrm>
            <a:off x="457200" y="1133856"/>
            <a:ext cx="2560320" cy="36576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47472" y="1316736"/>
            <a:ext cx="2084832" cy="32004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347472" y="1316736"/>
            <a:ext cx="2084832" cy="640080"/>
          </a:xfrm>
          <a:prstGeom prst="rect">
            <a:avLst/>
          </a:prstGeom>
          <a:solidFill>
            <a:srgbClr val="1A080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47472" y="1316736"/>
            <a:ext cx="45720" cy="320040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38912" y="1344168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Shape 7"/>
          <p:cNvSpPr/>
          <p:nvPr/>
        </p:nvSpPr>
        <p:spPr>
          <a:xfrm>
            <a:off x="1883664" y="1389888"/>
            <a:ext cx="411480" cy="411480"/>
          </a:xfrm>
          <a:prstGeom prst="rect">
            <a:avLst/>
          </a:prstGeom>
          <a:solidFill>
            <a:srgbClr val="2A0808"/>
          </a:solidFill>
          <a:ln w="12700">
            <a:solidFill>
              <a:srgbClr val="2A080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883664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57200" y="201168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Attack Fixtures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7200" y="2487168"/>
            <a:ext cx="1883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curated test cases across all 21 TPI vectors. JSON fixture files organized by attack category.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2432304" y="2697480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542032" y="1316736"/>
            <a:ext cx="2084832" cy="32004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542032" y="1316736"/>
            <a:ext cx="2084832" cy="640080"/>
          </a:xfrm>
          <a:prstGeom prst="rect">
            <a:avLst/>
          </a:prstGeom>
          <a:solidFill>
            <a:srgbClr val="080E1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542032" y="1316736"/>
            <a:ext cx="45720" cy="320040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633472" y="1344168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4078224" y="1389888"/>
            <a:ext cx="411480" cy="411480"/>
          </a:xfrm>
          <a:prstGeom prst="rect">
            <a:avLst/>
          </a:prstGeom>
          <a:solidFill>
            <a:srgbClr val="082028"/>
          </a:solidFill>
          <a:ln w="12700">
            <a:solidFill>
              <a:srgbClr val="08202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078224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2651760" y="201168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Scanner Engine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2651760" y="2487168"/>
            <a:ext cx="1883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detection patterns across 14 groups analyze input text in real-time. Zero runtime dependencies.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626864" y="2697480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736592" y="1316736"/>
            <a:ext cx="2084832" cy="32004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36592" y="1316736"/>
            <a:ext cx="2084832" cy="640080"/>
          </a:xfrm>
          <a:prstGeom prst="rect">
            <a:avLst/>
          </a:prstGeom>
          <a:solidFill>
            <a:srgbClr val="1A080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736592" y="1316736"/>
            <a:ext cx="45720" cy="320040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828032" y="1344168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30" name="Shape 25"/>
          <p:cNvSpPr/>
          <p:nvPr/>
        </p:nvSpPr>
        <p:spPr>
          <a:xfrm>
            <a:off x="6272784" y="1389888"/>
            <a:ext cx="411480" cy="411480"/>
          </a:xfrm>
          <a:prstGeom prst="rect">
            <a:avLst/>
          </a:prstGeom>
          <a:solidFill>
            <a:srgbClr val="2A0808"/>
          </a:solidFill>
          <a:ln w="12700">
            <a:solidFill>
              <a:srgbClr val="2A080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272784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846320" y="201168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Score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4846320" y="2487168"/>
            <a:ext cx="1883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input is classified by TPI category, severity, and confidence score. Results exposed via REST API.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821424" y="2697480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931152" y="1316736"/>
            <a:ext cx="2084832" cy="32004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931152" y="1316736"/>
            <a:ext cx="2084832" cy="640080"/>
          </a:xfrm>
          <a:prstGeom prst="rect">
            <a:avLst/>
          </a:prstGeom>
          <a:solidFill>
            <a:srgbClr val="080E1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931152" y="1316736"/>
            <a:ext cx="45720" cy="320040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022592" y="1344168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39" name="Shape 34"/>
          <p:cNvSpPr/>
          <p:nvPr/>
        </p:nvSpPr>
        <p:spPr>
          <a:xfrm>
            <a:off x="8467344" y="1389888"/>
            <a:ext cx="411480" cy="411480"/>
          </a:xfrm>
          <a:prstGeom prst="rect">
            <a:avLst/>
          </a:prstGeom>
          <a:solidFill>
            <a:srgbClr val="082028"/>
          </a:solidFill>
          <a:ln w="12700">
            <a:solidFill>
              <a:srgbClr val="082028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467344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HRD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7040880" y="201168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&amp; Iterate</a:t>
            </a:r>
            <a:endParaRPr lang="en-US" sz="1250" dirty="0"/>
          </a:p>
        </p:txBody>
      </p:sp>
      <p:sp>
        <p:nvSpPr>
          <p:cNvPr id="42" name="Text 37"/>
          <p:cNvSpPr/>
          <p:nvPr/>
        </p:nvSpPr>
        <p:spPr>
          <a:xfrm>
            <a:off x="7040880" y="2487168"/>
            <a:ext cx="1883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findings to close gaps in your AI system. Integrate into CI/CD pipelines for continuous security.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320040" y="4773168"/>
            <a:ext cx="8503920" cy="13716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320040" y="48006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blackunicorn.tech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8503920" y="48006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-45720"/>
            <a:ext cx="1920240" cy="19202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3337560"/>
            <a:ext cx="1920240" cy="19202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228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 COVERAGE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457200" y="438912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21/21 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 Vectors Covered</a:t>
            </a:r>
            <a:endParaRPr lang="en-US" sz="3400" dirty="0"/>
          </a:p>
        </p:txBody>
      </p:sp>
      <p:sp>
        <p:nvSpPr>
          <p:cNvPr id="7" name="Shape 2"/>
          <p:cNvSpPr/>
          <p:nvPr/>
        </p:nvSpPr>
        <p:spPr>
          <a:xfrm>
            <a:off x="457200" y="1234440"/>
            <a:ext cx="2560320" cy="36576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20040" y="1353312"/>
            <a:ext cx="2121408" cy="548640"/>
          </a:xfrm>
          <a:prstGeom prst="rect">
            <a:avLst/>
          </a:prstGeom>
          <a:solidFill>
            <a:srgbClr val="0C1626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374904" y="150876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94360" y="142646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TPI-PRE-4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1325880" y="142646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 Write Protection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2514600" y="1353312"/>
            <a:ext cx="2121408" cy="548640"/>
          </a:xfrm>
          <a:prstGeom prst="rect">
            <a:avLst/>
          </a:prstGeom>
          <a:solidFill>
            <a:srgbClr val="0C1626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569464" y="150876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788920" y="142646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TPI-02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3520440" y="142646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WebFetch Output Injection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709160" y="1353312"/>
            <a:ext cx="2121408" cy="548640"/>
          </a:xfrm>
          <a:prstGeom prst="rect">
            <a:avLst/>
          </a:prstGeom>
          <a:solidFill>
            <a:srgbClr val="0C1626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764024" y="150876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983480" y="142646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TPI-03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5715000" y="142646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Validation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903720" y="1353312"/>
            <a:ext cx="2121408" cy="548640"/>
          </a:xfrm>
          <a:prstGeom prst="rect">
            <a:avLst/>
          </a:prstGeom>
          <a:solidFill>
            <a:srgbClr val="0C1626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58584" y="150876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178040" y="142646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TPI-04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7909560" y="142646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Injection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320040" y="1947672"/>
            <a:ext cx="2121408" cy="548640"/>
          </a:xfrm>
          <a:prstGeom prst="rect">
            <a:avLst/>
          </a:prstGeom>
          <a:solidFill>
            <a:srgbClr val="070F1E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74904" y="210312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94360" y="202082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TPI-05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325880" y="202082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WebSearch Output Validation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2514600" y="1947672"/>
            <a:ext cx="2121408" cy="548640"/>
          </a:xfrm>
          <a:prstGeom prst="rect">
            <a:avLst/>
          </a:prstGeom>
          <a:solidFill>
            <a:srgbClr val="070F1E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2569464" y="210312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788920" y="202082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TPI-06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3520440" y="202082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Detection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4709160" y="1947672"/>
            <a:ext cx="2121408" cy="548640"/>
          </a:xfrm>
          <a:prstGeom prst="rect">
            <a:avLst/>
          </a:prstGeom>
          <a:solidFill>
            <a:srgbClr val="070F1E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764024" y="210312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983480" y="202082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TPI-07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5715000" y="202082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Rapport Exploitation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6903720" y="1947672"/>
            <a:ext cx="2121408" cy="548640"/>
          </a:xfrm>
          <a:prstGeom prst="rect">
            <a:avLst/>
          </a:prstGeom>
          <a:solidFill>
            <a:srgbClr val="070F1E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958584" y="210312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178040" y="202082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TPI-08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7909560" y="202082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Manipulation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320040" y="2542032"/>
            <a:ext cx="2121408" cy="548640"/>
          </a:xfrm>
          <a:prstGeom prst="rect">
            <a:avLst/>
          </a:prstGeom>
          <a:solidFill>
            <a:srgbClr val="0C1626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74904" y="269748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94360" y="261518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TPI-09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1325880" y="261518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Code-Format Injection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2514600" y="2542032"/>
            <a:ext cx="2121408" cy="548640"/>
          </a:xfrm>
          <a:prstGeom prst="rect">
            <a:avLst/>
          </a:prstGeom>
          <a:solidFill>
            <a:srgbClr val="0C1626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2569464" y="269748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788920" y="261518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TPI-10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3520440" y="261518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 Encoding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4709160" y="2542032"/>
            <a:ext cx="2121408" cy="548640"/>
          </a:xfrm>
          <a:prstGeom prst="rect">
            <a:avLst/>
          </a:prstGeom>
          <a:solidFill>
            <a:srgbClr val="0C1626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4764024" y="269748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4983480" y="261518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TPI-11</a:t>
            </a:r>
            <a:endParaRPr lang="en-US" sz="850" dirty="0"/>
          </a:p>
        </p:txBody>
      </p:sp>
      <p:sp>
        <p:nvSpPr>
          <p:cNvPr id="51" name="Text 46"/>
          <p:cNvSpPr/>
          <p:nvPr/>
        </p:nvSpPr>
        <p:spPr>
          <a:xfrm>
            <a:off x="5715000" y="261518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Overload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6903720" y="2542032"/>
            <a:ext cx="2121408" cy="548640"/>
          </a:xfrm>
          <a:prstGeom prst="rect">
            <a:avLst/>
          </a:prstGeom>
          <a:solidFill>
            <a:srgbClr val="0C1626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6958584" y="269748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7178040" y="261518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TPI-12</a:t>
            </a:r>
            <a:endParaRPr lang="en-US" sz="850" dirty="0"/>
          </a:p>
        </p:txBody>
      </p:sp>
      <p:sp>
        <p:nvSpPr>
          <p:cNvPr id="55" name="Text 50"/>
          <p:cNvSpPr/>
          <p:nvPr/>
        </p:nvSpPr>
        <p:spPr>
          <a:xfrm>
            <a:off x="7909560" y="261518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Substitution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320040" y="3136392"/>
            <a:ext cx="2121408" cy="548640"/>
          </a:xfrm>
          <a:prstGeom prst="rect">
            <a:avLst/>
          </a:prstGeom>
          <a:solidFill>
            <a:srgbClr val="070F1E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74904" y="329184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594360" y="320954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TPI-13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325880" y="320954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Fragmentation</a:t>
            </a:r>
            <a:endParaRPr lang="en-US" sz="800" dirty="0"/>
          </a:p>
        </p:txBody>
      </p:sp>
      <p:sp>
        <p:nvSpPr>
          <p:cNvPr id="60" name="Shape 55"/>
          <p:cNvSpPr/>
          <p:nvPr/>
        </p:nvSpPr>
        <p:spPr>
          <a:xfrm>
            <a:off x="2514600" y="3136392"/>
            <a:ext cx="2121408" cy="548640"/>
          </a:xfrm>
          <a:prstGeom prst="rect">
            <a:avLst/>
          </a:prstGeom>
          <a:solidFill>
            <a:srgbClr val="070F1E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2569464" y="329184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2788920" y="320954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TPI-14</a:t>
            </a:r>
            <a:endParaRPr lang="en-US" sz="850" dirty="0"/>
          </a:p>
        </p:txBody>
      </p:sp>
      <p:sp>
        <p:nvSpPr>
          <p:cNvPr id="63" name="Text 58"/>
          <p:cNvSpPr/>
          <p:nvPr/>
        </p:nvSpPr>
        <p:spPr>
          <a:xfrm>
            <a:off x="3520440" y="320954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Tokens &amp; Boundaries</a:t>
            </a:r>
            <a:endParaRPr lang="en-US" sz="800" dirty="0"/>
          </a:p>
        </p:txBody>
      </p:sp>
      <p:sp>
        <p:nvSpPr>
          <p:cNvPr id="64" name="Shape 59"/>
          <p:cNvSpPr/>
          <p:nvPr/>
        </p:nvSpPr>
        <p:spPr>
          <a:xfrm>
            <a:off x="4709160" y="3136392"/>
            <a:ext cx="2121408" cy="548640"/>
          </a:xfrm>
          <a:prstGeom prst="rect">
            <a:avLst/>
          </a:prstGeom>
          <a:solidFill>
            <a:srgbClr val="070F1E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4764024" y="329184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4983480" y="320954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TPI-15</a:t>
            </a:r>
            <a:endParaRPr lang="en-US" sz="850" dirty="0"/>
          </a:p>
        </p:txBody>
      </p:sp>
      <p:sp>
        <p:nvSpPr>
          <p:cNvPr id="67" name="Text 62"/>
          <p:cNvSpPr/>
          <p:nvPr/>
        </p:nvSpPr>
        <p:spPr>
          <a:xfrm>
            <a:off x="5715000" y="320954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(10 langs)</a:t>
            </a:r>
            <a:endParaRPr lang="en-US" sz="800" dirty="0"/>
          </a:p>
        </p:txBody>
      </p:sp>
      <p:sp>
        <p:nvSpPr>
          <p:cNvPr id="68" name="Shape 63"/>
          <p:cNvSpPr/>
          <p:nvPr/>
        </p:nvSpPr>
        <p:spPr>
          <a:xfrm>
            <a:off x="6903720" y="3136392"/>
            <a:ext cx="2121408" cy="548640"/>
          </a:xfrm>
          <a:prstGeom prst="rect">
            <a:avLst/>
          </a:prstGeom>
          <a:solidFill>
            <a:srgbClr val="070F1E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6958584" y="329184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7178040" y="320954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TPI-17</a:t>
            </a:r>
            <a:endParaRPr lang="en-US" sz="850" dirty="0"/>
          </a:p>
        </p:txBody>
      </p:sp>
      <p:sp>
        <p:nvSpPr>
          <p:cNvPr id="71" name="Text 66"/>
          <p:cNvSpPr/>
          <p:nvPr/>
        </p:nvSpPr>
        <p:spPr>
          <a:xfrm>
            <a:off x="7909560" y="320954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&amp; Format Evasion</a:t>
            </a:r>
            <a:endParaRPr lang="en-US" sz="800" dirty="0"/>
          </a:p>
        </p:txBody>
      </p:sp>
      <p:sp>
        <p:nvSpPr>
          <p:cNvPr id="72" name="Shape 67"/>
          <p:cNvSpPr/>
          <p:nvPr/>
        </p:nvSpPr>
        <p:spPr>
          <a:xfrm>
            <a:off x="320040" y="3730752"/>
            <a:ext cx="2121408" cy="548640"/>
          </a:xfrm>
          <a:prstGeom prst="rect">
            <a:avLst/>
          </a:prstGeom>
          <a:solidFill>
            <a:srgbClr val="0C1626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374904" y="388620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594360" y="380390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TPI-18</a:t>
            </a:r>
            <a:endParaRPr lang="en-US" sz="850" dirty="0"/>
          </a:p>
        </p:txBody>
      </p:sp>
      <p:sp>
        <p:nvSpPr>
          <p:cNvPr id="75" name="Text 70"/>
          <p:cNvSpPr/>
          <p:nvPr/>
        </p:nvSpPr>
        <p:spPr>
          <a:xfrm>
            <a:off x="1325880" y="380390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Metadata Injection</a:t>
            </a:r>
            <a:endParaRPr lang="en-US" sz="800" dirty="0"/>
          </a:p>
        </p:txBody>
      </p:sp>
      <p:sp>
        <p:nvSpPr>
          <p:cNvPr id="76" name="Shape 71"/>
          <p:cNvSpPr/>
          <p:nvPr/>
        </p:nvSpPr>
        <p:spPr>
          <a:xfrm>
            <a:off x="2514600" y="3730752"/>
            <a:ext cx="2121408" cy="548640"/>
          </a:xfrm>
          <a:prstGeom prst="rect">
            <a:avLst/>
          </a:prstGeom>
          <a:solidFill>
            <a:srgbClr val="0C1626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2569464" y="388620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2788920" y="380390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TPI-19</a:t>
            </a:r>
            <a:endParaRPr lang="en-US" sz="850" dirty="0"/>
          </a:p>
        </p:txBody>
      </p:sp>
      <p:sp>
        <p:nvSpPr>
          <p:cNvPr id="79" name="Text 74"/>
          <p:cNvSpPr/>
          <p:nvPr/>
        </p:nvSpPr>
        <p:spPr>
          <a:xfrm>
            <a:off x="3520440" y="380390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Mismatch / Polyglots</a:t>
            </a:r>
            <a:endParaRPr lang="en-US" sz="800" dirty="0"/>
          </a:p>
        </p:txBody>
      </p:sp>
      <p:sp>
        <p:nvSpPr>
          <p:cNvPr id="80" name="Shape 75"/>
          <p:cNvSpPr/>
          <p:nvPr/>
        </p:nvSpPr>
        <p:spPr>
          <a:xfrm>
            <a:off x="4709160" y="3730752"/>
            <a:ext cx="2121408" cy="548640"/>
          </a:xfrm>
          <a:prstGeom prst="rect">
            <a:avLst/>
          </a:prstGeom>
          <a:solidFill>
            <a:srgbClr val="0C1626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4764024" y="388620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82" name="Text 77"/>
          <p:cNvSpPr/>
          <p:nvPr/>
        </p:nvSpPr>
        <p:spPr>
          <a:xfrm>
            <a:off x="4983480" y="380390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TPI-20</a:t>
            </a:r>
            <a:endParaRPr lang="en-US" sz="850" dirty="0"/>
          </a:p>
        </p:txBody>
      </p:sp>
      <p:sp>
        <p:nvSpPr>
          <p:cNvPr id="83" name="Text 78"/>
          <p:cNvSpPr/>
          <p:nvPr/>
        </p:nvSpPr>
        <p:spPr>
          <a:xfrm>
            <a:off x="5715000" y="380390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Audio/Media Metadata</a:t>
            </a:r>
            <a:endParaRPr lang="en-US" sz="800" dirty="0"/>
          </a:p>
        </p:txBody>
      </p:sp>
      <p:sp>
        <p:nvSpPr>
          <p:cNvPr id="84" name="Shape 79"/>
          <p:cNvSpPr/>
          <p:nvPr/>
        </p:nvSpPr>
        <p:spPr>
          <a:xfrm>
            <a:off x="6903720" y="3730752"/>
            <a:ext cx="2121408" cy="548640"/>
          </a:xfrm>
          <a:prstGeom prst="rect">
            <a:avLst/>
          </a:prstGeom>
          <a:solidFill>
            <a:srgbClr val="0C1626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6958584" y="3886200"/>
            <a:ext cx="164592" cy="164592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86" name="Text 81"/>
          <p:cNvSpPr/>
          <p:nvPr/>
        </p:nvSpPr>
        <p:spPr>
          <a:xfrm>
            <a:off x="7178040" y="380390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TPI-21</a:t>
            </a:r>
            <a:endParaRPr lang="en-US" sz="850" dirty="0"/>
          </a:p>
        </p:txBody>
      </p:sp>
      <p:sp>
        <p:nvSpPr>
          <p:cNvPr id="87" name="Text 82"/>
          <p:cNvSpPr/>
          <p:nvPr/>
        </p:nvSpPr>
        <p:spPr>
          <a:xfrm>
            <a:off x="7909560" y="380390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Source Indicators</a:t>
            </a:r>
            <a:endParaRPr lang="en-US" sz="800" dirty="0"/>
          </a:p>
        </p:txBody>
      </p:sp>
      <p:sp>
        <p:nvSpPr>
          <p:cNvPr id="88" name="Shape 83"/>
          <p:cNvSpPr/>
          <p:nvPr/>
        </p:nvSpPr>
        <p:spPr>
          <a:xfrm>
            <a:off x="320040" y="4773168"/>
            <a:ext cx="8503920" cy="13716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320040" y="48006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blackunicorn.tech</a:t>
            </a:r>
            <a:endParaRPr lang="en-US" sz="900" dirty="0"/>
          </a:p>
        </p:txBody>
      </p:sp>
      <p:sp>
        <p:nvSpPr>
          <p:cNvPr id="90" name="Text 85"/>
          <p:cNvSpPr/>
          <p:nvPr/>
        </p:nvSpPr>
        <p:spPr>
          <a:xfrm>
            <a:off x="8503920" y="48006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-45720"/>
            <a:ext cx="1828800" cy="18288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383280"/>
            <a:ext cx="1920240" cy="19202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011680" y="228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457200" y="438912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139 Patterns. 14 Groups.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Dependencies.</a:t>
            </a:r>
            <a:endParaRPr lang="en-US" sz="3400" dirty="0"/>
          </a:p>
        </p:txBody>
      </p:sp>
      <p:sp>
        <p:nvSpPr>
          <p:cNvPr id="7" name="Shape 2"/>
          <p:cNvSpPr/>
          <p:nvPr/>
        </p:nvSpPr>
        <p:spPr>
          <a:xfrm>
            <a:off x="457200" y="1444752"/>
            <a:ext cx="2560320" cy="36576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65760" y="1572768"/>
            <a:ext cx="4005072" cy="9144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365760" y="1572768"/>
            <a:ext cx="45720" cy="91440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93776" y="1700784"/>
            <a:ext cx="502920" cy="502920"/>
          </a:xfrm>
          <a:prstGeom prst="rect">
            <a:avLst/>
          </a:prstGeom>
          <a:solidFill>
            <a:srgbClr val="200808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93776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JB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078992" y="164592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Prevention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78992" y="207568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patterns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65760" y="2642616"/>
            <a:ext cx="4005072" cy="9144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5760" y="2642616"/>
            <a:ext cx="45720" cy="91440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93776" y="2770632"/>
            <a:ext cx="502920" cy="502920"/>
          </a:xfrm>
          <a:prstGeom prst="rect">
            <a:avLst/>
          </a:prstGeom>
          <a:solidFill>
            <a:srgbClr val="200808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93776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78992" y="271576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Injection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78992" y="314553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patterns (10 langs)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65760" y="3712464"/>
            <a:ext cx="4005072" cy="9144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" y="3712464"/>
            <a:ext cx="45720" cy="91440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93776" y="3840480"/>
            <a:ext cx="502920" cy="502920"/>
          </a:xfrm>
          <a:prstGeom prst="rect">
            <a:avLst/>
          </a:prstGeom>
          <a:solidFill>
            <a:srgbClr val="200808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93776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078992" y="378561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Encoding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078992" y="421538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Decoders + 12 patterns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572000" y="1572768"/>
            <a:ext cx="4005072" cy="9144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0" y="1572768"/>
            <a:ext cx="45720" cy="91440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700016" y="1700784"/>
            <a:ext cx="502920" cy="502920"/>
          </a:xfrm>
          <a:prstGeom prst="rect">
            <a:avLst/>
          </a:prstGeom>
          <a:solidFill>
            <a:srgbClr val="081820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700016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PF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285232" y="164592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Fragmentation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5285232" y="207568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detection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572000" y="2642616"/>
            <a:ext cx="4005072" cy="9144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572000" y="2642616"/>
            <a:ext cx="45720" cy="91440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700016" y="2770632"/>
            <a:ext cx="502920" cy="502920"/>
          </a:xfrm>
          <a:prstGeom prst="rect">
            <a:avLst/>
          </a:prstGeom>
          <a:solidFill>
            <a:srgbClr val="081820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700016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5285232" y="271576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5285232" y="314553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+ manipulation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4572000" y="3712464"/>
            <a:ext cx="4005072" cy="9144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4572000" y="3712464"/>
            <a:ext cx="45720" cy="91440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4700016" y="3840480"/>
            <a:ext cx="502920" cy="502920"/>
          </a:xfrm>
          <a:prstGeom prst="rect">
            <a:avLst/>
          </a:prstGeom>
          <a:solidFill>
            <a:srgbClr val="081820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700016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FM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5285232" y="378561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File/Media Metadata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5285232" y="421538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audio, binary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320040" y="4773168"/>
            <a:ext cx="8503920" cy="13716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20040" y="48006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blackunicorn.tech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8503920" y="48006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-45720"/>
            <a:ext cx="1920240" cy="192024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720" y="3337560"/>
            <a:ext cx="1920240" cy="19202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28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457200" y="41148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the Numbers</a:t>
            </a:r>
            <a:endParaRPr lang="en-US" sz="4000" dirty="0"/>
          </a:p>
        </p:txBody>
      </p:sp>
      <p:sp>
        <p:nvSpPr>
          <p:cNvPr id="8" name="Shape 2"/>
          <p:cNvSpPr/>
          <p:nvPr/>
        </p:nvSpPr>
        <p:spPr>
          <a:xfrm>
            <a:off x="457200" y="1115568"/>
            <a:ext cx="2560320" cy="36576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320040" y="1298448"/>
            <a:ext cx="2788920" cy="16002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320040" y="1298448"/>
            <a:ext cx="45720" cy="160020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457200" y="1408176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7,117+</a:t>
            </a:r>
            <a:endParaRPr lang="en-US" sz="4800" dirty="0"/>
          </a:p>
        </p:txBody>
      </p:sp>
      <p:sp>
        <p:nvSpPr>
          <p:cNvPr id="12" name="Text 6"/>
          <p:cNvSpPr/>
          <p:nvPr/>
        </p:nvSpPr>
        <p:spPr>
          <a:xfrm>
            <a:off x="457200" y="2258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57200" y="2578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regressions</a:t>
            </a:r>
            <a:endParaRPr lang="en-US" sz="900" dirty="0"/>
          </a:p>
        </p:txBody>
      </p:sp>
      <p:sp>
        <p:nvSpPr>
          <p:cNvPr id="14" name="Shape 8"/>
          <p:cNvSpPr/>
          <p:nvPr/>
        </p:nvSpPr>
        <p:spPr>
          <a:xfrm>
            <a:off x="3264408" y="1298448"/>
            <a:ext cx="2788920" cy="16002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3264408" y="1298448"/>
            <a:ext cx="45720" cy="160020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3401568" y="1408176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300+</a:t>
            </a:r>
            <a:endParaRPr lang="en-US" sz="4800" dirty="0"/>
          </a:p>
        </p:txBody>
      </p:sp>
      <p:sp>
        <p:nvSpPr>
          <p:cNvPr id="17" name="Text 11"/>
          <p:cNvSpPr/>
          <p:nvPr/>
        </p:nvSpPr>
        <p:spPr>
          <a:xfrm>
            <a:off x="3401568" y="2258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Fixtures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401568" y="2578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12 categories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6208776" y="1298448"/>
            <a:ext cx="2788920" cy="16002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208776" y="1298448"/>
            <a:ext cx="45720" cy="160020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345936" y="1408176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139</a:t>
            </a:r>
            <a:endParaRPr lang="en-US" sz="4800" dirty="0"/>
          </a:p>
        </p:txBody>
      </p:sp>
      <p:sp>
        <p:nvSpPr>
          <p:cNvPr id="22" name="Text 16"/>
          <p:cNvSpPr/>
          <p:nvPr/>
        </p:nvSpPr>
        <p:spPr>
          <a:xfrm>
            <a:off x="6345936" y="2258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Patterns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345936" y="2578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heuristic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0040" y="3081528"/>
            <a:ext cx="2788920" cy="16002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" y="3081528"/>
            <a:ext cx="45720" cy="160020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3191256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21/21</a:t>
            </a:r>
            <a:endParaRPr lang="en-US" sz="4800" dirty="0"/>
          </a:p>
        </p:txBody>
      </p:sp>
      <p:sp>
        <p:nvSpPr>
          <p:cNvPr id="27" name="Text 21"/>
          <p:cNvSpPr/>
          <p:nvPr/>
        </p:nvSpPr>
        <p:spPr>
          <a:xfrm>
            <a:off x="457200" y="40416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 Stories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4361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taxonomy coverage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64408" y="3081528"/>
            <a:ext cx="2788920" cy="16002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64408" y="3081528"/>
            <a:ext cx="45720" cy="160020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401568" y="3191256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4800" dirty="0"/>
          </a:p>
        </p:txBody>
      </p:sp>
      <p:sp>
        <p:nvSpPr>
          <p:cNvPr id="32" name="Text 26"/>
          <p:cNvSpPr/>
          <p:nvPr/>
        </p:nvSpPr>
        <p:spPr>
          <a:xfrm>
            <a:off x="3401568" y="40416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Groups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3401568" y="4361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 vector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208776" y="3081528"/>
            <a:ext cx="2788920" cy="16002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208776" y="3081528"/>
            <a:ext cx="45720" cy="160020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345936" y="3191256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</a:t>
            </a:r>
            <a:endParaRPr lang="en-US" sz="4800" dirty="0"/>
          </a:p>
        </p:txBody>
      </p:sp>
      <p:sp>
        <p:nvSpPr>
          <p:cNvPr id="37" name="Text 31"/>
          <p:cNvSpPr/>
          <p:nvPr/>
        </p:nvSpPr>
        <p:spPr>
          <a:xfrm>
            <a:off x="6345936" y="40416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Files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6345936" y="4361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categories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20040" y="4773168"/>
            <a:ext cx="8503920" cy="13716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320040" y="48006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blackunicorn.tech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8503920" y="48006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-45720"/>
            <a:ext cx="1828800" cy="18288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383280"/>
            <a:ext cx="1920240" cy="19202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011680" y="228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457200" y="41148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Security Teams</a:t>
            </a:r>
            <a:endParaRPr lang="en-US" sz="3800" dirty="0"/>
          </a:p>
        </p:txBody>
      </p:sp>
      <p:sp>
        <p:nvSpPr>
          <p:cNvPr id="7" name="Shape 2"/>
          <p:cNvSpPr/>
          <p:nvPr/>
        </p:nvSpPr>
        <p:spPr>
          <a:xfrm>
            <a:off x="457200" y="1115568"/>
            <a:ext cx="2560320" cy="36576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65760" y="1261872"/>
            <a:ext cx="4206240" cy="16002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365760" y="1261872"/>
            <a:ext cx="45720" cy="160020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93776" y="1389888"/>
            <a:ext cx="475488" cy="475488"/>
          </a:xfrm>
          <a:prstGeom prst="rect">
            <a:avLst/>
          </a:prstGeom>
          <a:solidFill>
            <a:srgbClr val="200808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93776" y="1389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042416" y="1389888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Red Teaming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75488" y="1883664"/>
            <a:ext cx="3968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real-world adversarial attacks against your LLM deployments. Use 300+ attack fixtures to probe for vulnerabilities before attackers do.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75488" y="2615184"/>
            <a:ext cx="1901952" cy="201168"/>
          </a:xfrm>
          <a:prstGeom prst="rect">
            <a:avLst/>
          </a:prstGeom>
          <a:solidFill>
            <a:srgbClr val="0C1A2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75488" y="26151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2468880" y="2615184"/>
            <a:ext cx="1901952" cy="201168"/>
          </a:xfrm>
          <a:prstGeom prst="rect">
            <a:avLst/>
          </a:prstGeom>
          <a:solidFill>
            <a:srgbClr val="0C1A2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468880" y="26151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AI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773168" y="1261872"/>
            <a:ext cx="4206240" cy="16002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73168" y="1261872"/>
            <a:ext cx="45720" cy="160020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901184" y="1389888"/>
            <a:ext cx="475488" cy="475488"/>
          </a:xfrm>
          <a:prstGeom prst="rect">
            <a:avLst/>
          </a:prstGeom>
          <a:solidFill>
            <a:srgbClr val="082028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901184" y="1389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49824" y="1389888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Validation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882896" y="1883664"/>
            <a:ext cx="3968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TPI-CrowdStrike compliance. Produce evidence for OWASP LLM Top 10 audits and security certifications.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882896" y="2615184"/>
            <a:ext cx="1901952" cy="201168"/>
          </a:xfrm>
          <a:prstGeom prst="rect">
            <a:avLst/>
          </a:prstGeom>
          <a:solidFill>
            <a:srgbClr val="0C1A2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82896" y="26151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6876288" y="2615184"/>
            <a:ext cx="1901952" cy="201168"/>
          </a:xfrm>
          <a:prstGeom prst="rect">
            <a:avLst/>
          </a:prstGeom>
          <a:solidFill>
            <a:srgbClr val="0C1A2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876288" y="26151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TPI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65760" y="3044952"/>
            <a:ext cx="4206240" cy="16002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65760" y="3044952"/>
            <a:ext cx="45720" cy="160020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93776" y="3172968"/>
            <a:ext cx="475488" cy="475488"/>
          </a:xfrm>
          <a:prstGeom prst="rect">
            <a:avLst/>
          </a:prstGeom>
          <a:solidFill>
            <a:srgbClr val="200808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93776" y="3172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042416" y="3172968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475488" y="3666744"/>
            <a:ext cx="3968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security testing in your development pipeline. API-first design makes it easy to add automated injection detection to any workflow.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75488" y="4398264"/>
            <a:ext cx="1901952" cy="201168"/>
          </a:xfrm>
          <a:prstGeom prst="rect">
            <a:avLst/>
          </a:prstGeom>
          <a:solidFill>
            <a:srgbClr val="0C1A2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75488" y="439826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2468880" y="4398264"/>
            <a:ext cx="1901952" cy="201168"/>
          </a:xfrm>
          <a:prstGeom prst="rect">
            <a:avLst/>
          </a:prstGeom>
          <a:solidFill>
            <a:srgbClr val="0C1A2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468880" y="439826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4773168" y="3044952"/>
            <a:ext cx="4206240" cy="16002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4773168" y="3044952"/>
            <a:ext cx="45720" cy="160020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4901184" y="3172968"/>
            <a:ext cx="475488" cy="475488"/>
          </a:xfrm>
          <a:prstGeom prst="rect">
            <a:avLst/>
          </a:prstGeom>
          <a:solidFill>
            <a:srgbClr val="082028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901184" y="3172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5449824" y="3172968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Research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4882896" y="3666744"/>
            <a:ext cx="3968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new prompt injection vectors using the extensible fixture format. Contribute to the growing taxonomy of LLM attack patterns.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4882896" y="4398264"/>
            <a:ext cx="1901952" cy="201168"/>
          </a:xfrm>
          <a:prstGeom prst="rect">
            <a:avLst/>
          </a:prstGeom>
          <a:solidFill>
            <a:srgbClr val="0C1A2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4882896" y="439826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6876288" y="4398264"/>
            <a:ext cx="1901952" cy="201168"/>
          </a:xfrm>
          <a:prstGeom prst="rect">
            <a:avLst/>
          </a:prstGeom>
          <a:solidFill>
            <a:srgbClr val="0C1A2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876288" y="439826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320040" y="4773168"/>
            <a:ext cx="8503920" cy="13716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20040" y="48006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blackunicorn.tech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8503920" y="48006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-45720"/>
            <a:ext cx="1828800" cy="18288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383280"/>
            <a:ext cx="1920240" cy="19202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011680" y="228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457200" y="4114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 Security Standards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 of the Box</a:t>
            </a:r>
            <a:endParaRPr lang="en-US" sz="3400" dirty="0"/>
          </a:p>
        </p:txBody>
      </p:sp>
      <p:sp>
        <p:nvSpPr>
          <p:cNvPr id="7" name="Shape 2"/>
          <p:cNvSpPr/>
          <p:nvPr/>
        </p:nvSpPr>
        <p:spPr>
          <a:xfrm>
            <a:off x="457200" y="1417320"/>
            <a:ext cx="2560320" cy="36576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65760" y="1536192"/>
            <a:ext cx="2816352" cy="749808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365760" y="1536192"/>
            <a:ext cx="45720" cy="749808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57200" y="155448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2600" dirty="0"/>
          </a:p>
        </p:txBody>
      </p:sp>
      <p:sp>
        <p:nvSpPr>
          <p:cNvPr id="11" name="Shape 6"/>
          <p:cNvSpPr/>
          <p:nvPr/>
        </p:nvSpPr>
        <p:spPr>
          <a:xfrm>
            <a:off x="2121408" y="1572768"/>
            <a:ext cx="22860" cy="51206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176272" y="155448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Frameworks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3291840" y="1536192"/>
            <a:ext cx="2816352" cy="749808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291840" y="1536192"/>
            <a:ext cx="45720" cy="749808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383280" y="155448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95/100</a:t>
            </a:r>
            <a:endParaRPr lang="en-US" sz="2600" dirty="0"/>
          </a:p>
        </p:txBody>
      </p:sp>
      <p:sp>
        <p:nvSpPr>
          <p:cNvPr id="16" name="Shape 11"/>
          <p:cNvSpPr/>
          <p:nvPr/>
        </p:nvSpPr>
        <p:spPr>
          <a:xfrm>
            <a:off x="5047488" y="1572768"/>
            <a:ext cx="22860" cy="51206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102352" y="155448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Score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217920" y="1536192"/>
            <a:ext cx="2816352" cy="749808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1536192"/>
            <a:ext cx="45720" cy="749808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09360" y="155448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21/21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7973568" y="1572768"/>
            <a:ext cx="22860" cy="51206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28432" y="155448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 Stories Covered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65760" y="2395728"/>
            <a:ext cx="2816352" cy="22860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5760" y="2395728"/>
            <a:ext cx="2816352" cy="457200"/>
          </a:xfrm>
          <a:prstGeom prst="rect">
            <a:avLst/>
          </a:prstGeom>
          <a:solidFill>
            <a:srgbClr val="1A080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65760" y="2395728"/>
            <a:ext cx="45720" cy="228600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5488" y="2459736"/>
            <a:ext cx="384048" cy="329184"/>
          </a:xfrm>
          <a:prstGeom prst="rect">
            <a:avLst/>
          </a:prstGeom>
          <a:solidFill>
            <a:srgbClr val="2A0808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5488" y="245973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932688" y="2459736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420624" y="2944368"/>
            <a:ext cx="2706624" cy="329184"/>
          </a:xfrm>
          <a:prstGeom prst="rect">
            <a:avLst/>
          </a:prstGeom>
          <a:solidFill>
            <a:srgbClr val="080F1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93776" y="3026664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76656" y="2971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TPI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2468880" y="2990088"/>
            <a:ext cx="594360" cy="237744"/>
          </a:xfrm>
          <a:prstGeom prst="rect">
            <a:avLst/>
          </a:prstGeom>
          <a:solidFill>
            <a:srgbClr val="200808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468880" y="2990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21/21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493776" y="3374136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76656" y="3319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2468880" y="3337560"/>
            <a:ext cx="594360" cy="237744"/>
          </a:xfrm>
          <a:prstGeom prst="rect">
            <a:avLst/>
          </a:prstGeom>
          <a:solidFill>
            <a:srgbClr val="200808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468880" y="333756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95/100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420624" y="3639312"/>
            <a:ext cx="2706624" cy="329184"/>
          </a:xfrm>
          <a:prstGeom prst="rect">
            <a:avLst/>
          </a:prstGeom>
          <a:solidFill>
            <a:srgbClr val="080F1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93776" y="3721608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76656" y="366674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2468880" y="3685032"/>
            <a:ext cx="594360" cy="237744"/>
          </a:xfrm>
          <a:prstGeom prst="rect">
            <a:avLst/>
          </a:prstGeom>
          <a:solidFill>
            <a:srgbClr val="200808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2468880" y="3685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43" name="Shape 38"/>
          <p:cNvSpPr/>
          <p:nvPr/>
        </p:nvSpPr>
        <p:spPr>
          <a:xfrm>
            <a:off x="493776" y="4069080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76656" y="401421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API Top 10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2468880" y="4032504"/>
            <a:ext cx="594360" cy="237744"/>
          </a:xfrm>
          <a:prstGeom prst="rect">
            <a:avLst/>
          </a:prstGeom>
          <a:solidFill>
            <a:srgbClr val="200808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468880" y="403250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47" name="Shape 42"/>
          <p:cNvSpPr/>
          <p:nvPr/>
        </p:nvSpPr>
        <p:spPr>
          <a:xfrm>
            <a:off x="420624" y="4334256"/>
            <a:ext cx="2706624" cy="329184"/>
          </a:xfrm>
          <a:prstGeom prst="rect">
            <a:avLst/>
          </a:prstGeom>
          <a:solidFill>
            <a:srgbClr val="080F1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493776" y="4416552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76656" y="436168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ASVS v4.0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2468880" y="4379976"/>
            <a:ext cx="594360" cy="237744"/>
          </a:xfrm>
          <a:prstGeom prst="rect">
            <a:avLst/>
          </a:prstGeom>
          <a:solidFill>
            <a:srgbClr val="200808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2468880" y="437997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52" name="Shape 47"/>
          <p:cNvSpPr/>
          <p:nvPr/>
        </p:nvSpPr>
        <p:spPr>
          <a:xfrm>
            <a:off x="3291840" y="2395728"/>
            <a:ext cx="2816352" cy="22860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3" name="Shape 48"/>
          <p:cNvSpPr/>
          <p:nvPr/>
        </p:nvSpPr>
        <p:spPr>
          <a:xfrm>
            <a:off x="3291840" y="2395728"/>
            <a:ext cx="2816352" cy="457200"/>
          </a:xfrm>
          <a:prstGeom prst="rect">
            <a:avLst/>
          </a:prstGeom>
          <a:solidFill>
            <a:srgbClr val="08151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3291840" y="2395728"/>
            <a:ext cx="45720" cy="228600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3401568" y="2459736"/>
            <a:ext cx="384048" cy="329184"/>
          </a:xfrm>
          <a:prstGeom prst="rect">
            <a:avLst/>
          </a:prstGeom>
          <a:solidFill>
            <a:srgbClr val="082028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3401568" y="245973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ISO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3858768" y="2459736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Standards</a:t>
            </a:r>
            <a:endParaRPr lang="en-US" sz="1250" dirty="0"/>
          </a:p>
        </p:txBody>
      </p:sp>
      <p:sp>
        <p:nvSpPr>
          <p:cNvPr id="58" name="Shape 53"/>
          <p:cNvSpPr/>
          <p:nvPr/>
        </p:nvSpPr>
        <p:spPr>
          <a:xfrm>
            <a:off x="3346704" y="2944368"/>
            <a:ext cx="2706624" cy="329184"/>
          </a:xfrm>
          <a:prstGeom prst="rect">
            <a:avLst/>
          </a:prstGeom>
          <a:solidFill>
            <a:srgbClr val="080F1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3419856" y="3026664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3602736" y="2971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000" dirty="0"/>
          </a:p>
        </p:txBody>
      </p:sp>
      <p:sp>
        <p:nvSpPr>
          <p:cNvPr id="61" name="Shape 56"/>
          <p:cNvSpPr/>
          <p:nvPr/>
        </p:nvSpPr>
        <p:spPr>
          <a:xfrm>
            <a:off x="5394960" y="2990088"/>
            <a:ext cx="594360" cy="237744"/>
          </a:xfrm>
          <a:prstGeom prst="rect">
            <a:avLst/>
          </a:prstGeom>
          <a:solidFill>
            <a:srgbClr val="082028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5394960" y="2990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63" name="Shape 58"/>
          <p:cNvSpPr/>
          <p:nvPr/>
        </p:nvSpPr>
        <p:spPr>
          <a:xfrm>
            <a:off x="3419856" y="3374136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3602736" y="3319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27017 Cloud</a:t>
            </a:r>
            <a:endParaRPr lang="en-US" sz="1000" dirty="0"/>
          </a:p>
        </p:txBody>
      </p:sp>
      <p:sp>
        <p:nvSpPr>
          <p:cNvPr id="65" name="Shape 60"/>
          <p:cNvSpPr/>
          <p:nvPr/>
        </p:nvSpPr>
        <p:spPr>
          <a:xfrm>
            <a:off x="5394960" y="3337560"/>
            <a:ext cx="594360" cy="237744"/>
          </a:xfrm>
          <a:prstGeom prst="rect">
            <a:avLst/>
          </a:prstGeom>
          <a:solidFill>
            <a:srgbClr val="082028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5394960" y="333756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67" name="Shape 62"/>
          <p:cNvSpPr/>
          <p:nvPr/>
        </p:nvSpPr>
        <p:spPr>
          <a:xfrm>
            <a:off x="3346704" y="3639312"/>
            <a:ext cx="2706624" cy="329184"/>
          </a:xfrm>
          <a:prstGeom prst="rect">
            <a:avLst/>
          </a:prstGeom>
          <a:solidFill>
            <a:srgbClr val="080F1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3419856" y="3721608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3602736" y="366674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27018 PII</a:t>
            </a:r>
            <a:endParaRPr lang="en-US" sz="1000" dirty="0"/>
          </a:p>
        </p:txBody>
      </p:sp>
      <p:sp>
        <p:nvSpPr>
          <p:cNvPr id="70" name="Shape 65"/>
          <p:cNvSpPr/>
          <p:nvPr/>
        </p:nvSpPr>
        <p:spPr>
          <a:xfrm>
            <a:off x="5394960" y="3685032"/>
            <a:ext cx="594360" cy="237744"/>
          </a:xfrm>
          <a:prstGeom prst="rect">
            <a:avLst/>
          </a:prstGeom>
          <a:solidFill>
            <a:srgbClr val="082028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5394960" y="3685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72" name="Shape 67"/>
          <p:cNvSpPr/>
          <p:nvPr/>
        </p:nvSpPr>
        <p:spPr>
          <a:xfrm>
            <a:off x="3419856" y="4069080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3602736" y="401421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800-53</a:t>
            </a:r>
            <a:endParaRPr lang="en-US" sz="1000" dirty="0"/>
          </a:p>
        </p:txBody>
      </p:sp>
      <p:sp>
        <p:nvSpPr>
          <p:cNvPr id="74" name="Shape 69"/>
          <p:cNvSpPr/>
          <p:nvPr/>
        </p:nvSpPr>
        <p:spPr>
          <a:xfrm>
            <a:off x="5394960" y="4032504"/>
            <a:ext cx="594360" cy="237744"/>
          </a:xfrm>
          <a:prstGeom prst="rect">
            <a:avLst/>
          </a:prstGeom>
          <a:solidFill>
            <a:srgbClr val="082028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5394960" y="403250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76" name="Shape 71"/>
          <p:cNvSpPr/>
          <p:nvPr/>
        </p:nvSpPr>
        <p:spPr>
          <a:xfrm>
            <a:off x="3346704" y="4334256"/>
            <a:ext cx="2706624" cy="329184"/>
          </a:xfrm>
          <a:prstGeom prst="rect">
            <a:avLst/>
          </a:prstGeom>
          <a:solidFill>
            <a:srgbClr val="080F1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3419856" y="4416552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3602736" y="436168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Controls v8</a:t>
            </a:r>
            <a:endParaRPr lang="en-US" sz="1000" dirty="0"/>
          </a:p>
        </p:txBody>
      </p:sp>
      <p:sp>
        <p:nvSpPr>
          <p:cNvPr id="79" name="Shape 74"/>
          <p:cNvSpPr/>
          <p:nvPr/>
        </p:nvSpPr>
        <p:spPr>
          <a:xfrm>
            <a:off x="5394960" y="4379976"/>
            <a:ext cx="594360" cy="237744"/>
          </a:xfrm>
          <a:prstGeom prst="rect">
            <a:avLst/>
          </a:prstGeom>
          <a:solidFill>
            <a:srgbClr val="082028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80" name="Text 75"/>
          <p:cNvSpPr/>
          <p:nvPr/>
        </p:nvSpPr>
        <p:spPr>
          <a:xfrm>
            <a:off x="5394960" y="437997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81" name="Shape 76"/>
          <p:cNvSpPr/>
          <p:nvPr/>
        </p:nvSpPr>
        <p:spPr>
          <a:xfrm>
            <a:off x="6217920" y="2395728"/>
            <a:ext cx="2816352" cy="228600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2" name="Shape 77"/>
          <p:cNvSpPr/>
          <p:nvPr/>
        </p:nvSpPr>
        <p:spPr>
          <a:xfrm>
            <a:off x="6217920" y="2395728"/>
            <a:ext cx="2816352" cy="457200"/>
          </a:xfrm>
          <a:prstGeom prst="rect">
            <a:avLst/>
          </a:prstGeom>
          <a:solidFill>
            <a:srgbClr val="081A10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217920" y="2395728"/>
            <a:ext cx="45720" cy="2286000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6327648" y="2459736"/>
            <a:ext cx="384048" cy="329184"/>
          </a:xfrm>
          <a:prstGeom prst="rect">
            <a:avLst/>
          </a:prstGeom>
          <a:solidFill>
            <a:srgbClr val="0A2010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6327648" y="245973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D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</a:t>
            </a:r>
            <a:endParaRPr lang="en-US" sz="900" dirty="0"/>
          </a:p>
        </p:txBody>
      </p:sp>
      <p:sp>
        <p:nvSpPr>
          <p:cNvPr id="86" name="Text 81"/>
          <p:cNvSpPr/>
          <p:nvPr/>
        </p:nvSpPr>
        <p:spPr>
          <a:xfrm>
            <a:off x="6784848" y="2459736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250" dirty="0"/>
          </a:p>
        </p:txBody>
      </p:sp>
      <p:sp>
        <p:nvSpPr>
          <p:cNvPr id="87" name="Shape 82"/>
          <p:cNvSpPr/>
          <p:nvPr/>
        </p:nvSpPr>
        <p:spPr>
          <a:xfrm>
            <a:off x="6272784" y="2944368"/>
            <a:ext cx="2706624" cy="329184"/>
          </a:xfrm>
          <a:prstGeom prst="rect">
            <a:avLst/>
          </a:prstGeom>
          <a:solidFill>
            <a:srgbClr val="080F1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6345936" y="3026664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6528816" y="2971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000" dirty="0"/>
          </a:p>
        </p:txBody>
      </p:sp>
      <p:sp>
        <p:nvSpPr>
          <p:cNvPr id="90" name="Shape 85"/>
          <p:cNvSpPr/>
          <p:nvPr/>
        </p:nvSpPr>
        <p:spPr>
          <a:xfrm>
            <a:off x="8321040" y="2990088"/>
            <a:ext cx="594360" cy="237744"/>
          </a:xfrm>
          <a:prstGeom prst="rect">
            <a:avLst/>
          </a:prstGeom>
          <a:solidFill>
            <a:srgbClr val="0A2010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8321040" y="2990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92" name="Shape 87"/>
          <p:cNvSpPr/>
          <p:nvPr/>
        </p:nvSpPr>
        <p:spPr>
          <a:xfrm>
            <a:off x="6345936" y="3374136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6528816" y="3319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000" dirty="0"/>
          </a:p>
        </p:txBody>
      </p:sp>
      <p:sp>
        <p:nvSpPr>
          <p:cNvPr id="94" name="Shape 89"/>
          <p:cNvSpPr/>
          <p:nvPr/>
        </p:nvSpPr>
        <p:spPr>
          <a:xfrm>
            <a:off x="8321040" y="3337560"/>
            <a:ext cx="594360" cy="237744"/>
          </a:xfrm>
          <a:prstGeom prst="rect">
            <a:avLst/>
          </a:prstGeom>
          <a:solidFill>
            <a:srgbClr val="0A2010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95" name="Text 90"/>
          <p:cNvSpPr/>
          <p:nvPr/>
        </p:nvSpPr>
        <p:spPr>
          <a:xfrm>
            <a:off x="8321040" y="333756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96" name="Shape 91"/>
          <p:cNvSpPr/>
          <p:nvPr/>
        </p:nvSpPr>
        <p:spPr>
          <a:xfrm>
            <a:off x="6272784" y="3639312"/>
            <a:ext cx="2706624" cy="329184"/>
          </a:xfrm>
          <a:prstGeom prst="rect">
            <a:avLst/>
          </a:prstGeom>
          <a:solidFill>
            <a:srgbClr val="080F1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6345936" y="3721608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98" name="Text 93"/>
          <p:cNvSpPr/>
          <p:nvPr/>
        </p:nvSpPr>
        <p:spPr>
          <a:xfrm>
            <a:off x="6528816" y="366674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</a:t>
            </a:r>
            <a:endParaRPr lang="en-US" sz="1000" dirty="0"/>
          </a:p>
        </p:txBody>
      </p:sp>
      <p:sp>
        <p:nvSpPr>
          <p:cNvPr id="99" name="Shape 94"/>
          <p:cNvSpPr/>
          <p:nvPr/>
        </p:nvSpPr>
        <p:spPr>
          <a:xfrm>
            <a:off x="8321040" y="3685032"/>
            <a:ext cx="594360" cy="237744"/>
          </a:xfrm>
          <a:prstGeom prst="rect">
            <a:avLst/>
          </a:prstGeom>
          <a:solidFill>
            <a:srgbClr val="0A2010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100" name="Text 95"/>
          <p:cNvSpPr/>
          <p:nvPr/>
        </p:nvSpPr>
        <p:spPr>
          <a:xfrm>
            <a:off x="8321040" y="3685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101" name="Shape 96"/>
          <p:cNvSpPr/>
          <p:nvPr/>
        </p:nvSpPr>
        <p:spPr>
          <a:xfrm>
            <a:off x="6345936" y="4069080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102" name="Text 97"/>
          <p:cNvSpPr/>
          <p:nvPr/>
        </p:nvSpPr>
        <p:spPr>
          <a:xfrm>
            <a:off x="6528816" y="401421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000" dirty="0"/>
          </a:p>
        </p:txBody>
      </p:sp>
      <p:sp>
        <p:nvSpPr>
          <p:cNvPr id="103" name="Shape 98"/>
          <p:cNvSpPr/>
          <p:nvPr/>
        </p:nvSpPr>
        <p:spPr>
          <a:xfrm>
            <a:off x="8321040" y="4032504"/>
            <a:ext cx="594360" cy="237744"/>
          </a:xfrm>
          <a:prstGeom prst="rect">
            <a:avLst/>
          </a:prstGeom>
          <a:solidFill>
            <a:srgbClr val="0A2010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104" name="Text 99"/>
          <p:cNvSpPr/>
          <p:nvPr/>
        </p:nvSpPr>
        <p:spPr>
          <a:xfrm>
            <a:off x="8321040" y="403250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105" name="Shape 100"/>
          <p:cNvSpPr/>
          <p:nvPr/>
        </p:nvSpPr>
        <p:spPr>
          <a:xfrm>
            <a:off x="6272784" y="4334256"/>
            <a:ext cx="2706624" cy="329184"/>
          </a:xfrm>
          <a:prstGeom prst="rect">
            <a:avLst/>
          </a:prstGeom>
          <a:solidFill>
            <a:srgbClr val="080F1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6345936" y="4416552"/>
            <a:ext cx="128016" cy="146304"/>
          </a:xfrm>
          <a:prstGeom prst="rect">
            <a:avLst/>
          </a:prstGeom>
          <a:solidFill>
            <a:srgbClr val="22DD66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107" name="Text 102"/>
          <p:cNvSpPr/>
          <p:nvPr/>
        </p:nvSpPr>
        <p:spPr>
          <a:xfrm>
            <a:off x="6528816" y="436168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</a:t>
            </a:r>
            <a:endParaRPr lang="en-US" sz="1000" dirty="0"/>
          </a:p>
        </p:txBody>
      </p:sp>
      <p:sp>
        <p:nvSpPr>
          <p:cNvPr id="108" name="Shape 103"/>
          <p:cNvSpPr/>
          <p:nvPr/>
        </p:nvSpPr>
        <p:spPr>
          <a:xfrm>
            <a:off x="8321040" y="4379976"/>
            <a:ext cx="594360" cy="237744"/>
          </a:xfrm>
          <a:prstGeom prst="rect">
            <a:avLst/>
          </a:prstGeom>
          <a:solidFill>
            <a:srgbClr val="0A2010"/>
          </a:solidFill>
          <a:ln w="12700">
            <a:solidFill>
              <a:srgbClr val="22DD66"/>
            </a:solidFill>
            <a:prstDash val="solid"/>
          </a:ln>
        </p:spPr>
      </p:sp>
      <p:sp>
        <p:nvSpPr>
          <p:cNvPr id="109" name="Text 104"/>
          <p:cNvSpPr/>
          <p:nvPr/>
        </p:nvSpPr>
        <p:spPr>
          <a:xfrm>
            <a:off x="8321040" y="437997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110" name="Shape 105"/>
          <p:cNvSpPr/>
          <p:nvPr/>
        </p:nvSpPr>
        <p:spPr>
          <a:xfrm>
            <a:off x="320040" y="4773168"/>
            <a:ext cx="8503920" cy="13716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1" name="Text 106"/>
          <p:cNvSpPr/>
          <p:nvPr/>
        </p:nvSpPr>
        <p:spPr>
          <a:xfrm>
            <a:off x="320040" y="48006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blackunicorn.tech</a:t>
            </a:r>
            <a:endParaRPr lang="en-US" sz="900" dirty="0"/>
          </a:p>
        </p:txBody>
      </p:sp>
      <p:sp>
        <p:nvSpPr>
          <p:cNvPr id="112" name="Text 107"/>
          <p:cNvSpPr/>
          <p:nvPr/>
        </p:nvSpPr>
        <p:spPr>
          <a:xfrm>
            <a:off x="8503920" y="48006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-45720"/>
            <a:ext cx="1920240" cy="19202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3337560"/>
            <a:ext cx="1920240" cy="19202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228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457200" y="41148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Running in Minutes</a:t>
            </a:r>
            <a:endParaRPr lang="en-US" sz="3600" dirty="0"/>
          </a:p>
        </p:txBody>
      </p:sp>
      <p:sp>
        <p:nvSpPr>
          <p:cNvPr id="7" name="Shape 2"/>
          <p:cNvSpPr/>
          <p:nvPr/>
        </p:nvSpPr>
        <p:spPr>
          <a:xfrm>
            <a:off x="457200" y="1115568"/>
            <a:ext cx="2560320" cy="36576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65760" y="1298448"/>
            <a:ext cx="5074920" cy="96012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365760" y="1298448"/>
            <a:ext cx="45720" cy="96012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75488" y="1362456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1261872" y="1353312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repository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1261872" y="1719072"/>
            <a:ext cx="4059936" cy="420624"/>
          </a:xfrm>
          <a:prstGeom prst="rect">
            <a:avLst/>
          </a:prstGeom>
          <a:solidFill>
            <a:srgbClr val="060D1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298448" y="1719072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github.com/dojolm/dojolm.git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65760" y="2395728"/>
            <a:ext cx="5074920" cy="96012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5760" y="2395728"/>
            <a:ext cx="45720" cy="96012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5488" y="2459736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1261872" y="2450592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 (zero runtime deps)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1261872" y="2816352"/>
            <a:ext cx="4059936" cy="420624"/>
          </a:xfrm>
          <a:prstGeom prst="rect">
            <a:avLst/>
          </a:prstGeom>
          <a:solidFill>
            <a:srgbClr val="060D1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298448" y="2816352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65760" y="3493008"/>
            <a:ext cx="5074920" cy="960120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" y="3493008"/>
            <a:ext cx="45720" cy="960120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488" y="3557016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1261872" y="3547872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Test Lab at localhost:8089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1261872" y="3913632"/>
            <a:ext cx="4059936" cy="420624"/>
          </a:xfrm>
          <a:prstGeom prst="rect">
            <a:avLst/>
          </a:prstGeom>
          <a:solidFill>
            <a:srgbClr val="060D1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298448" y="3913632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start --workspace=packages/bu-tpi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650992" y="1298448"/>
            <a:ext cx="3127248" cy="1938528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650992" y="1298448"/>
            <a:ext cx="3127248" cy="402336"/>
          </a:xfrm>
          <a:prstGeom prst="rect">
            <a:avLst/>
          </a:prstGeom>
          <a:solidFill>
            <a:srgbClr val="1A080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650992" y="1298448"/>
            <a:ext cx="45720" cy="1938528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760720" y="13167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5760720" y="1810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7150608" y="18105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760720" y="21396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7150608" y="213969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76072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7150608" y="24688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5.7+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5760720" y="27980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7150608" y="279806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OpenAI / Ollama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5650992" y="3401568"/>
            <a:ext cx="3127248" cy="1024128"/>
          </a:xfrm>
          <a:prstGeom prst="rect">
            <a:avLst/>
          </a:prstGeom>
          <a:solidFill>
            <a:srgbClr val="0C1626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5650992" y="3401568"/>
            <a:ext cx="3127248" cy="365760"/>
          </a:xfrm>
          <a:prstGeom prst="rect">
            <a:avLst/>
          </a:prstGeom>
          <a:solidFill>
            <a:srgbClr val="08151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5650992" y="3401568"/>
            <a:ext cx="45720" cy="1024128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60720" y="341985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5760720" y="3822192"/>
            <a:ext cx="2907792" cy="502920"/>
          </a:xfrm>
          <a:prstGeom prst="rect">
            <a:avLst/>
          </a:prstGeom>
          <a:solidFill>
            <a:srgbClr val="060D1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779008" y="3822192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localhost:8089/api/scan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320040" y="4773168"/>
            <a:ext cx="8503920" cy="13716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20040" y="48006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blackunicorn.tech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8503920" y="48006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1828800" cy="18288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383280"/>
            <a:ext cx="1920240" cy="192024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457200"/>
            <a:ext cx="2834640" cy="283464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65760" y="5943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3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DojoLM</a:t>
            </a:r>
            <a:endParaRPr lang="en-US" sz="7800" dirty="0"/>
          </a:p>
        </p:txBody>
      </p:sp>
      <p:sp>
        <p:nvSpPr>
          <p:cNvPr id="8" name="Text 1"/>
          <p:cNvSpPr/>
          <p:nvPr/>
        </p:nvSpPr>
        <p:spPr>
          <a:xfrm>
            <a:off x="365760" y="16916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 Test. Harden.</a:t>
            </a:r>
            <a:endParaRPr lang="en-US" sz="2600" dirty="0"/>
          </a:p>
        </p:txBody>
      </p:sp>
      <p:sp>
        <p:nvSpPr>
          <p:cNvPr id="9" name="Shape 2"/>
          <p:cNvSpPr/>
          <p:nvPr/>
        </p:nvSpPr>
        <p:spPr>
          <a:xfrm>
            <a:off x="365760" y="2359152"/>
            <a:ext cx="4206240" cy="36576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0" name="Text 3"/>
          <p:cNvSpPr/>
          <p:nvPr/>
        </p:nvSpPr>
        <p:spPr>
          <a:xfrm>
            <a:off x="365760" y="248716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red teaming platform built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the complete TPI taxonomy.</a:t>
            </a:r>
            <a:endParaRPr lang="en-US" sz="1450" dirty="0"/>
          </a:p>
        </p:txBody>
      </p:sp>
      <p:sp>
        <p:nvSpPr>
          <p:cNvPr id="11" name="Shape 4"/>
          <p:cNvSpPr/>
          <p:nvPr/>
        </p:nvSpPr>
        <p:spPr>
          <a:xfrm>
            <a:off x="365760" y="3310128"/>
            <a:ext cx="2240280" cy="493776"/>
          </a:xfrm>
          <a:prstGeom prst="rect">
            <a:avLst/>
          </a:prstGeom>
          <a:solidFill>
            <a:srgbClr val="FF3020"/>
          </a:solidFill>
          <a:ln w="12700">
            <a:solidFill>
              <a:srgbClr val="FF3020"/>
            </a:solidFill>
            <a:prstDash val="solid"/>
          </a:ln>
        </p:spPr>
      </p:sp>
      <p:sp>
        <p:nvSpPr>
          <p:cNvPr id="12" name="Text 5"/>
          <p:cNvSpPr/>
          <p:nvPr/>
        </p:nvSpPr>
        <p:spPr>
          <a:xfrm>
            <a:off x="365760" y="3310128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on GitHub</a:t>
            </a:r>
            <a:endParaRPr lang="en-US" sz="1250" dirty="0"/>
          </a:p>
        </p:txBody>
      </p:sp>
      <p:sp>
        <p:nvSpPr>
          <p:cNvPr id="13" name="Shape 6"/>
          <p:cNvSpPr/>
          <p:nvPr/>
        </p:nvSpPr>
        <p:spPr>
          <a:xfrm>
            <a:off x="2743200" y="3310128"/>
            <a:ext cx="2240280" cy="493776"/>
          </a:xfrm>
          <a:prstGeom prst="rect">
            <a:avLst/>
          </a:prstGeom>
          <a:solidFill>
            <a:srgbClr val="0C1A28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2743200" y="3310128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dojolm.io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365760" y="47548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blackunicorn.tech</a:t>
            </a:r>
            <a:pPr indent="0" marL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github.com/dojolm</a:t>
            </a:r>
            <a:pPr indent="0" marL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8503920" y="48006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DojoLM — LLM Red Teaming &amp; Security Testing Platform</dc:title>
  <dc:subject>PptxGenJS Presentation</dc:subject>
  <dc:creator>Black Unicorn</dc:creator>
  <cp:lastModifiedBy>Black Unicorn</cp:lastModifiedBy>
  <cp:revision>1</cp:revision>
  <dcterms:created xsi:type="dcterms:W3CDTF">2026-02-26T23:34:11Z</dcterms:created>
  <dcterms:modified xsi:type="dcterms:W3CDTF">2026-02-26T23:34:11Z</dcterms:modified>
</cp:coreProperties>
</file>